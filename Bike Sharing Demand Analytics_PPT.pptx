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/>
      <p:bold r:id="rId19"/>
    </p:embeddedFont>
    <p:embeddedFont>
      <p:font typeface="JetBrains Mono"/>
      <p:bold r:id="rId20"/>
    </p:embeddedFont>
    <p:embeddedFont>
      <p:font typeface="Plus Jakarta Sans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629275"/>
            <a:ext cx="111252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5629275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123950"/>
            <a:ext cx="121920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sz="3900" b="1" i="0" u="none" dirty="0">
                <a:solidFill>
                  <a:srgbClr val="FFFFFF"/>
                </a:solidFill>
                <a:latin typeface="Plus Jakarta Sans"/>
              </a:rPr>
              <a:t>    </a:t>
            </a:r>
            <a:r>
              <a:rPr sz="3900" b="1" i="0" u="none" dirty="0">
                <a:solidFill>
                  <a:srgbClr val="FFFFFF"/>
                </a:solidFill>
                <a:latin typeface="Plus Jakarta Sans"/>
              </a:rPr>
              <a:t>Bike Sharing Demand Analytics &amp; Operations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7146" y="2385123"/>
            <a:ext cx="7524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i="0" u="none" dirty="0">
                <a:solidFill>
                  <a:srgbClr val="94A3B8"/>
                </a:solidFill>
                <a:latin typeface="Inter"/>
              </a:rPr>
              <a:t>Quantitative analysis of 3.29M trips, weather elasticity, commuter patterns, and dynamic rebalancing strategy</a:t>
            </a:r>
            <a:r>
              <a:rPr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5867400"/>
            <a:ext cx="2024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TOTAL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076950"/>
            <a:ext cx="20240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Inter"/>
              </a:rPr>
              <a:t>3,292,676 Trips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9850" y="5867400"/>
            <a:ext cx="2214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SUBSCRIBER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9850" y="6076950"/>
            <a:ext cx="22145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8FAFC"/>
                </a:solidFill>
                <a:latin typeface="Inter"/>
              </a:rPr>
              <a:t>81.2% Registered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5867400"/>
            <a:ext cx="3071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TIMEFRAME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8700" y="6076950"/>
            <a:ext cx="30718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8FAFC"/>
                </a:solidFill>
                <a:latin typeface="Inter"/>
              </a:rPr>
              <a:t>2011 – 2012 (24 Months)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B99A2-DBD1-45FA-9EE9-1E633E7991C7}"/>
              </a:ext>
            </a:extLst>
          </p:cNvPr>
          <p:cNvSpPr/>
          <p:nvPr/>
        </p:nvSpPr>
        <p:spPr>
          <a:xfrm>
            <a:off x="8077364" y="4981570"/>
            <a:ext cx="3750067" cy="6213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Submitted By:- Dipak </a:t>
            </a:r>
            <a:r>
              <a:rPr lang="en-US" dirty="0" err="1"/>
              <a:t>jadhav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843361"/>
            <a:ext cx="2638425" cy="1948457"/>
          </a:xfrm>
          <a:prstGeom prst="roundRect">
            <a:avLst>
              <a:gd name="adj" fmla="val 58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62325" y="2843361"/>
            <a:ext cx="2638425" cy="1948457"/>
          </a:xfrm>
          <a:prstGeom prst="roundRect">
            <a:avLst>
              <a:gd name="adj" fmla="val 58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43361"/>
            <a:ext cx="2638425" cy="1948457"/>
          </a:xfrm>
          <a:prstGeom prst="roundRect">
            <a:avLst>
              <a:gd name="adj" fmla="val 58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20175" y="2843361"/>
            <a:ext cx="2638425" cy="1948457"/>
          </a:xfrm>
          <a:prstGeom prst="roundRect">
            <a:avLst>
              <a:gd name="adj" fmla="val 58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782294"/>
            <a:ext cx="2638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843361"/>
            <a:ext cx="26384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62300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2325" y="4782294"/>
            <a:ext cx="2638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2325" y="2843361"/>
            <a:ext cx="263842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2325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91225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4782294"/>
            <a:ext cx="2638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2843361"/>
            <a:ext cx="26384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20150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20175" y="4782294"/>
            <a:ext cx="2638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20175" y="2843361"/>
            <a:ext cx="263842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20175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49075" y="2843361"/>
            <a:ext cx="9525" cy="1948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-199267" y="342900"/>
            <a:ext cx="871804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0" u="none" dirty="0">
                <a:solidFill>
                  <a:srgbClr val="2563EB"/>
                </a:solidFill>
                <a:latin typeface="JetBrains Mono"/>
              </a:rPr>
              <a:t>                                                      </a:t>
            </a:r>
            <a:r>
              <a:rPr sz="2400" b="1" i="0" u="none" dirty="0">
                <a:solidFill>
                  <a:srgbClr val="2563EB"/>
                </a:solidFill>
                <a:latin typeface="JetBrains Mono"/>
              </a:rPr>
              <a:t>01. </a:t>
            </a:r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MACRO</a:t>
            </a:r>
            <a:r>
              <a:rPr sz="2400" b="1" i="0" u="none" dirty="0">
                <a:solidFill>
                  <a:srgbClr val="2563EB"/>
                </a:solidFill>
                <a:latin typeface="JetBrains Mono"/>
              </a:rPr>
              <a:t> </a:t>
            </a:r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DASHBOARD</a:t>
            </a:r>
            <a:endParaRPr sz="2400" b="1" i="0" u="none" dirty="0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0075" y="848499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Executive Performance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232" y="3123217"/>
            <a:ext cx="270271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JetBrains Mono"/>
              </a:rPr>
              <a:t>TOTAL RENTAL VOLUME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395811"/>
            <a:ext cx="270271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2563EB"/>
                </a:solidFill>
                <a:latin typeface="Plus Jakarta Sans"/>
              </a:rPr>
              <a:t>3.29M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833961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64% YoY growth from 2011 to 2012 across all hours.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450" y="3110061"/>
            <a:ext cx="195784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JetBrains Mono"/>
              </a:rPr>
              <a:t>REGISTERED COMMUTERS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450" y="3395811"/>
            <a:ext cx="270271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59669"/>
                </a:solidFill>
                <a:latin typeface="Plus Jakarta Sans"/>
              </a:rPr>
              <a:t>81.2%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450" y="3833961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2.67M subscription rides securing baseline revenue.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3110061"/>
            <a:ext cx="169860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JetBrains Mono"/>
              </a:rPr>
              <a:t>PEAK HOUR INTENSITY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3395811"/>
            <a:ext cx="270271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284C7"/>
                </a:solidFill>
                <a:latin typeface="Plus Jakarta Sans"/>
              </a:rPr>
              <a:t>1,000+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833961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Max rentals per hour during 5:00 PM rush window.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8300" y="3110061"/>
            <a:ext cx="123258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JetBrains Mono"/>
              </a:rPr>
              <a:t>RAIN ELASTICITY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8300" y="3395811"/>
            <a:ext cx="270271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DC2626"/>
                </a:solidFill>
                <a:latin typeface="Plus Jakarta Sans"/>
              </a:rPr>
              <a:t>-42.4%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8300" y="3833961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Demand reduction under light rain and snowfall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87016"/>
            <a:ext cx="5429250" cy="346114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087016"/>
            <a:ext cx="5429250" cy="3461146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4825" y="2325141"/>
            <a:ext cx="1409700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4168526"/>
            <a:ext cx="625971" cy="175914"/>
          </a:xfrm>
          <a:prstGeom prst="roundRect">
            <a:avLst>
              <a:gd name="adj" fmla="val 21658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2746" y="4227165"/>
            <a:ext cx="625971" cy="117276"/>
          </a:xfrm>
          <a:prstGeom prst="roundRect">
            <a:avLst>
              <a:gd name="adj" fmla="val 32487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13967" y="3024336"/>
            <a:ext cx="625971" cy="1320105"/>
          </a:xfrm>
          <a:prstGeom prst="roundRect">
            <a:avLst>
              <a:gd name="adj" fmla="val 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35188" y="3728442"/>
            <a:ext cx="625971" cy="615999"/>
          </a:xfrm>
          <a:prstGeom prst="roundRect">
            <a:avLst>
              <a:gd name="adj" fmla="val 6185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6409" y="3640484"/>
            <a:ext cx="625971" cy="703957"/>
          </a:xfrm>
          <a:prstGeom prst="roundRect">
            <a:avLst>
              <a:gd name="adj" fmla="val 608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77630" y="2877591"/>
            <a:ext cx="625971" cy="1466850"/>
          </a:xfrm>
          <a:prstGeom prst="roundRect">
            <a:avLst>
              <a:gd name="adj" fmla="val 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98851" y="3933825"/>
            <a:ext cx="625971" cy="410616"/>
          </a:xfrm>
          <a:prstGeom prst="roundRect">
            <a:avLst>
              <a:gd name="adj" fmla="val 9278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63175" y="2325141"/>
            <a:ext cx="1257300" cy="247650"/>
          </a:xfrm>
          <a:prstGeom prst="roundRect">
            <a:avLst>
              <a:gd name="adj" fmla="val 2307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7475" y="4197846"/>
            <a:ext cx="625971" cy="146595"/>
          </a:xfrm>
          <a:prstGeom prst="roundRect">
            <a:avLst>
              <a:gd name="adj" fmla="val 25989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88696" y="4139207"/>
            <a:ext cx="625971" cy="205233"/>
          </a:xfrm>
          <a:prstGeom prst="roundRect">
            <a:avLst>
              <a:gd name="adj" fmla="val 18564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09917" y="3435101"/>
            <a:ext cx="625971" cy="909339"/>
          </a:xfrm>
          <a:prstGeom prst="roundRect">
            <a:avLst>
              <a:gd name="adj" fmla="val 608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31138" y="2936378"/>
            <a:ext cx="625971" cy="1408062"/>
          </a:xfrm>
          <a:prstGeom prst="roundRect">
            <a:avLst>
              <a:gd name="adj" fmla="val 608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52359" y="3112293"/>
            <a:ext cx="625971" cy="1232148"/>
          </a:xfrm>
          <a:prstGeom prst="roundRect">
            <a:avLst>
              <a:gd name="adj" fmla="val 608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73580" y="3581697"/>
            <a:ext cx="625971" cy="762744"/>
          </a:xfrm>
          <a:prstGeom prst="roundRect">
            <a:avLst>
              <a:gd name="adj" fmla="val 6086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794801" y="4080420"/>
            <a:ext cx="625971" cy="264021"/>
          </a:xfrm>
          <a:prstGeom prst="roundRect">
            <a:avLst>
              <a:gd name="adj" fmla="val 1443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20262" y="333375"/>
            <a:ext cx="300890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02. TEMPORAL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412" y="826621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Hourly Demand Profile: Workdays vs. Weekends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830216"/>
            <a:ext cx="50482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Commuter spikes at 8 AM and 5 PM reflect daily utility transit.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830216"/>
            <a:ext cx="50482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Broad afternoon plateau peaking from 12 PM to 4 PM for casual rides.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2329904"/>
            <a:ext cx="37129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Working Days (Bimodal Peaks)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0075" y="2363241"/>
            <a:ext cx="1314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81% 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00:00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1625" y="4515891"/>
            <a:ext cx="1352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08:00 (Peak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752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12:00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7625" y="4515891"/>
            <a:ext cx="1352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17:00 (Peak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352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23:00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7475" y="2329904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Weekends (Monomodal Curve)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8425" y="2363241"/>
            <a:ext cx="116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JetBrains Mono"/>
              </a:rPr>
              <a:t>Leisure Driven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00:00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377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08:00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075" y="4515891"/>
            <a:ext cx="1809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13:00 (Midday Peak)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317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17:00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39475" y="4515891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JetBrains Mono"/>
              </a:rPr>
              <a:t>23:00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88212" y="2785318"/>
            <a:ext cx="4770387" cy="2064543"/>
          </a:xfrm>
          <a:prstGeom prst="roundRect">
            <a:avLst>
              <a:gd name="adj" fmla="val 55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26337" y="3969990"/>
            <a:ext cx="42941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817465"/>
            <a:ext cx="6011912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484215"/>
            <a:ext cx="6011912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150965"/>
            <a:ext cx="6011912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817715"/>
            <a:ext cx="6011912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2817465"/>
            <a:ext cx="6011912" cy="247650"/>
          </a:xfrm>
          <a:prstGeom prst="roundRect">
            <a:avLst>
              <a:gd name="adj" fmla="val 2307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3484215"/>
            <a:ext cx="5170140" cy="247650"/>
          </a:xfrm>
          <a:prstGeom prst="roundRect">
            <a:avLst>
              <a:gd name="adj" fmla="val 2307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4150965"/>
            <a:ext cx="4749403" cy="247650"/>
          </a:xfrm>
          <a:prstGeom prst="roundRect">
            <a:avLst>
              <a:gd name="adj" fmla="val 2307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3400" y="4817715"/>
            <a:ext cx="2645122" cy="247650"/>
          </a:xfrm>
          <a:prstGeom prst="roundRect">
            <a:avLst>
              <a:gd name="adj" fmla="val 23076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3405" y="342900"/>
            <a:ext cx="257859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03. SEASONAL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162" y="858024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Quarterly Demand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337" y="3023443"/>
            <a:ext cx="50656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Seasonal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6337" y="3337768"/>
            <a:ext cx="438938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Q2 and Q3 generate 60.1% of total annual trip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6337" y="4131915"/>
            <a:ext cx="438938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Q1 Spring contraction (55% lower than Q3) creates annual maintenance windows.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569815"/>
            <a:ext cx="1738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Fall (Q3 / Jul - Sep)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9862" y="2569815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1,061,153 trips (32.2%)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236565"/>
            <a:ext cx="2286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Summer (Q2 / Apr - Jun)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4162" y="3236565"/>
            <a:ext cx="1976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918,589 trips (27.9%)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3903315"/>
            <a:ext cx="214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Winter (Q4 / Oct - Dec)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4162" y="3903315"/>
            <a:ext cx="1976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841,613 trips (25.6%)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570065"/>
            <a:ext cx="207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Spring (Q1 / Jan - Mar)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4637" y="4570065"/>
            <a:ext cx="1988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471,348 trips (14.3%)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67148"/>
            <a:ext cx="2638425" cy="2300882"/>
          </a:xfrm>
          <a:prstGeom prst="roundRect">
            <a:avLst>
              <a:gd name="adj" fmla="val 49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62325" y="2667148"/>
            <a:ext cx="2638425" cy="2300882"/>
          </a:xfrm>
          <a:prstGeom prst="roundRect">
            <a:avLst>
              <a:gd name="adj" fmla="val 49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87104"/>
            <a:ext cx="2638425" cy="2060971"/>
          </a:xfrm>
          <a:prstGeom prst="roundRect">
            <a:avLst>
              <a:gd name="adj" fmla="val 5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20175" y="2787104"/>
            <a:ext cx="2638425" cy="2060971"/>
          </a:xfrm>
          <a:prstGeom prst="roundRect">
            <a:avLst>
              <a:gd name="adj" fmla="val 5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905273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2905273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025229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025229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2508" y="342900"/>
            <a:ext cx="32803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04. METEOROLOGICAL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856982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Weather Impact on Average Hourly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248173"/>
            <a:ext cx="28378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Clear / Few Clouds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562498"/>
            <a:ext cx="270271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205 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bikes/hr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010173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Baseline optimal condition (65.7% of observed hours).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3248173"/>
            <a:ext cx="28378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Mist / Cloudy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3562498"/>
            <a:ext cx="270271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175 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bikes/hr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4010173"/>
            <a:ext cx="225742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Moderate 14.6% demand drop during overcast weather.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368129"/>
            <a:ext cx="28378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Light Rain / Snow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82454"/>
            <a:ext cx="270271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118 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bikes/hr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130129"/>
            <a:ext cx="22574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Substantial 42.4% drop as riders switch to transit.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3368129"/>
            <a:ext cx="28378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Heavy Storm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682454"/>
            <a:ext cx="2702718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C2626"/>
                </a:solidFill>
                <a:latin typeface="Inter"/>
              </a:rPr>
              <a:t>74 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bikes/hr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4130129"/>
            <a:ext cx="22574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Severe fleet utilization collapse during storms.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1700" y="2938611"/>
            <a:ext cx="104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JetBrains Mono"/>
              </a:rPr>
              <a:t>11,413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6825" y="2938611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4,544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5750" y="3058566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JetBrains Mono"/>
              </a:rPr>
              <a:t>1,419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9475" y="3058566"/>
            <a:ext cx="66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JetBrains Mono"/>
              </a:rPr>
              <a:t>3 HRS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44229"/>
            <a:ext cx="6344542" cy="2346721"/>
          </a:xfrm>
          <a:prstGeom prst="roundRect">
            <a:avLst>
              <a:gd name="adj" fmla="val 48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4642" y="2470993"/>
            <a:ext cx="4513957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44642" y="3893790"/>
            <a:ext cx="4513957" cy="1270396"/>
          </a:xfrm>
          <a:prstGeom prst="roundRect">
            <a:avLst>
              <a:gd name="adj" fmla="val 89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3310979"/>
            <a:ext cx="1879848" cy="771525"/>
          </a:xfrm>
          <a:prstGeom prst="roundRect">
            <a:avLst>
              <a:gd name="adj" fmla="val 987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65673" y="3310979"/>
            <a:ext cx="1879848" cy="771525"/>
          </a:xfrm>
          <a:prstGeom prst="roundRect">
            <a:avLst>
              <a:gd name="adj" fmla="val 987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9821" y="3310979"/>
            <a:ext cx="1879848" cy="771525"/>
          </a:xfrm>
          <a:prstGeom prst="roundRect">
            <a:avLst>
              <a:gd name="adj" fmla="val 9876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44642" y="3731865"/>
            <a:ext cx="4513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44642" y="2470993"/>
            <a:ext cx="4513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4642" y="2470993"/>
            <a:ext cx="38100" cy="12703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49075" y="2470993"/>
            <a:ext cx="9525" cy="12703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44642" y="5154662"/>
            <a:ext cx="4513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44642" y="3893790"/>
            <a:ext cx="4513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44642" y="3893790"/>
            <a:ext cx="38100" cy="12703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49075" y="3893790"/>
            <a:ext cx="9525" cy="12703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6596" y="342900"/>
            <a:ext cx="221220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05. THERMAL CURVE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871270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Temperature vs. Demand Non-Linearity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882354"/>
            <a:ext cx="770213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Thermal Comfort Sweet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273004"/>
            <a:ext cx="596354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Positive correlation (r = 0.63) up to 28°C, with demand tapering off above 32°C due to heat fatigue.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1342" y="2709118"/>
            <a:ext cx="47806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Feeling Temp (atemp)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1342" y="3023443"/>
            <a:ext cx="410438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Apparent temperature exhibits stronger correlation (0.63) with target rental counts.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1342" y="4131915"/>
            <a:ext cx="47806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Humidity Ceiling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1342" y="4446240"/>
            <a:ext cx="410438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Relative humidity above 75% triggers a 22% drop in casual leisure trips.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450" y="3472904"/>
            <a:ext cx="194499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JetBrains Mono"/>
              </a:rPr>
              <a:t>&lt; 10°C (COLD)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3672929"/>
            <a:ext cx="194499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Inter"/>
              </a:rPr>
              <a:t>80 bikes/hr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7598" y="3472904"/>
            <a:ext cx="194499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JetBrains Mono"/>
              </a:rPr>
              <a:t>20°C–30°C (OPTIMAL)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7598" y="3672929"/>
            <a:ext cx="194499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Inter"/>
              </a:rPr>
              <a:t>280 bikes/hr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1746" y="3472904"/>
            <a:ext cx="194499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A3412"/>
                </a:solidFill>
                <a:latin typeface="JetBrains Mono"/>
              </a:rPr>
              <a:t>&gt; 32°C (EXTREME)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1746" y="3672929"/>
            <a:ext cx="194499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7C2D12"/>
                </a:solidFill>
                <a:latin typeface="Inter"/>
              </a:rPr>
              <a:t>230 bikes/hr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67148"/>
            <a:ext cx="5429250" cy="2300882"/>
          </a:xfrm>
          <a:prstGeom prst="roundRect">
            <a:avLst>
              <a:gd name="adj" fmla="val 496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67148"/>
            <a:ext cx="5429250" cy="2300882"/>
          </a:xfrm>
          <a:prstGeom prst="roundRect">
            <a:avLst>
              <a:gd name="adj" fmla="val 49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1525" y="3945284"/>
            <a:ext cx="4953000" cy="784621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67475" y="3945284"/>
            <a:ext cx="4953000" cy="784621"/>
          </a:xfrm>
          <a:prstGeom prst="roundRect">
            <a:avLst>
              <a:gd name="adj" fmla="val 97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3724" y="342900"/>
            <a:ext cx="351795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06. SEGMENTATION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93674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Registered vs. Casual Behavioral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38648"/>
            <a:ext cx="6500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Registered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552973"/>
            <a:ext cx="619125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2,672,662 trips recorded across 24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238648"/>
            <a:ext cx="5724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Casual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552973"/>
            <a:ext cx="57245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620,014 trips recorded across 24 months.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929086"/>
            <a:ext cx="170001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E40AF"/>
                </a:solidFill>
                <a:latin typeface="JetBrains Mono"/>
              </a:rPr>
              <a:t>COMMUTER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05273"/>
            <a:ext cx="1440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JetBrains Mono"/>
              </a:rPr>
              <a:t>81.2%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97684"/>
            <a:ext cx="47434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Inelastic demand tied to daily office hours with predictable commuter morning/evening spikes.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2929086"/>
            <a:ext cx="137916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66534"/>
                </a:solidFill>
                <a:latin typeface="JetBrains Mono"/>
              </a:rPr>
              <a:t>LEISURE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7950" y="2905273"/>
            <a:ext cx="1440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JetBrains Mono"/>
              </a:rPr>
              <a:t>18.8%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4097684"/>
            <a:ext cx="47434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Highly elastic demand concentrated on weekend afternoons and warm sunny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88212" y="3062436"/>
            <a:ext cx="4770387" cy="1510307"/>
          </a:xfrm>
          <a:prstGeom prst="roundRect">
            <a:avLst>
              <a:gd name="adj" fmla="val 75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931765"/>
            <a:ext cx="6011912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531840"/>
            <a:ext cx="6011912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131915"/>
            <a:ext cx="6011912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731990"/>
            <a:ext cx="6011912" cy="209550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931765"/>
            <a:ext cx="3727251" cy="209550"/>
          </a:xfrm>
          <a:prstGeom prst="roundRect">
            <a:avLst>
              <a:gd name="adj" fmla="val 2727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3531840"/>
            <a:ext cx="1082129" cy="209550"/>
          </a:xfrm>
          <a:prstGeom prst="roundRect">
            <a:avLst>
              <a:gd name="adj" fmla="val 27272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131915"/>
            <a:ext cx="661243" cy="209550"/>
          </a:xfrm>
          <a:prstGeom prst="roundRect">
            <a:avLst>
              <a:gd name="adj" fmla="val 27272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4731990"/>
            <a:ext cx="360610" cy="209550"/>
          </a:xfrm>
          <a:prstGeom prst="roundRect">
            <a:avLst>
              <a:gd name="adj" fmla="val 27272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20158" y="342900"/>
            <a:ext cx="28850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07. PREDICTIVE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807720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Key Demand Drivers (Random Forest Feature Importance)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6337" y="3300561"/>
            <a:ext cx="50656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Predictive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337" y="3614886"/>
            <a:ext cx="4389387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Hour of day dictates 62% of rental variance, confirming diurnal schedule primacy over weather factors.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693640"/>
            <a:ext cx="1409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Hour of Day (hr)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9862" y="2693640"/>
            <a:ext cx="2119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Inter"/>
              </a:rPr>
              <a:t>62% Variance Explained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293715"/>
            <a:ext cx="2738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Apparent Temperature (atemp)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8437" y="3293715"/>
            <a:ext cx="2083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B82F6"/>
                </a:solidFill>
                <a:latin typeface="Inter"/>
              </a:rPr>
              <a:t>18% Variance Explained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93790"/>
            <a:ext cx="3155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Working Day Indicator (workingday)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6537" y="3893790"/>
            <a:ext cx="2035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11% Variance Explained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493865"/>
            <a:ext cx="3036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Humidity &amp; Windspeed (hum/wind)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5587" y="4493865"/>
            <a:ext cx="2012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6% Variance Explained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938611"/>
            <a:ext cx="3340149" cy="1757957"/>
          </a:xfrm>
          <a:prstGeom prst="roundRect">
            <a:avLst>
              <a:gd name="adj" fmla="val 65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25999" y="2938611"/>
            <a:ext cx="3340149" cy="1757957"/>
          </a:xfrm>
          <a:prstGeom prst="roundRect">
            <a:avLst>
              <a:gd name="adj" fmla="val 65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18599" y="2938611"/>
            <a:ext cx="3340149" cy="1757957"/>
          </a:xfrm>
          <a:prstGeom prst="roundRect">
            <a:avLst>
              <a:gd name="adj" fmla="val 65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49" y="3722340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649" y="3722340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14002" y="342900"/>
            <a:ext cx="289739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08. OPERATIONAL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761" y="891480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Dynamic Fleet Rebalancing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176736"/>
            <a:ext cx="35798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PHASE 01 • 07:00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424386"/>
            <a:ext cx="37588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Pre-Commute 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738711"/>
            <a:ext cx="29591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Pre-stage fleet at residential stations ahead of the 8:00 AM subscriber morning rush.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4124" y="3176736"/>
            <a:ext cx="35798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PHASE 02 • 12:00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4124" y="3424386"/>
            <a:ext cx="37588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Midday Redistribution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124" y="3738711"/>
            <a:ext cx="29591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Transfer excess inventory from office hubs back toward high-demand casual weekend zones.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6724" y="3176736"/>
            <a:ext cx="35798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PHASE 03 • 05:00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6724" y="3424386"/>
            <a:ext cx="3635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Evening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6724" y="3738711"/>
            <a:ext cx="29591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Deploy active van shuttles to clear commercial hub dock overflows during 5 PM peak.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895748"/>
            <a:ext cx="3581400" cy="1843682"/>
          </a:xfrm>
          <a:prstGeom prst="roundRect">
            <a:avLst>
              <a:gd name="adj" fmla="val 619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5300" y="2895748"/>
            <a:ext cx="3581400" cy="1843682"/>
          </a:xfrm>
          <a:prstGeom prst="roundRect">
            <a:avLst>
              <a:gd name="adj" fmla="val 619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95748"/>
            <a:ext cx="3581400" cy="1843682"/>
          </a:xfrm>
          <a:prstGeom prst="roundRect">
            <a:avLst>
              <a:gd name="adj" fmla="val 619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3152923"/>
            <a:ext cx="1066800" cy="238125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72990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895748"/>
            <a:ext cx="35814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05275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43425" y="3152923"/>
            <a:ext cx="1295400" cy="238125"/>
          </a:xfrm>
          <a:prstGeom prst="roundRect">
            <a:avLst>
              <a:gd name="adj" fmla="val 16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5300" y="472990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5300" y="2895748"/>
            <a:ext cx="35814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5300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77175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15325" y="3152923"/>
            <a:ext cx="1066800" cy="238125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4729906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2895748"/>
            <a:ext cx="35814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49075" y="2895748"/>
            <a:ext cx="9525" cy="18436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0911" y="342900"/>
            <a:ext cx="276357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09. STRATEGIC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99" y="812185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Phased Strategic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191023"/>
            <a:ext cx="1009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JetBrains Mono"/>
              </a:rPr>
              <a:t>PHASE 1 (Q1)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467248"/>
            <a:ext cx="40755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Rebalancing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3781573"/>
            <a:ext cx="32004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Deploy predictive station replenishment models to eliminate morning rush hour stockouts.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625" y="3191023"/>
            <a:ext cx="1238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JetBrains Mono"/>
              </a:rPr>
              <a:t>PHASE 2 (Q2-Q3)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425" y="3467248"/>
            <a:ext cx="40755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Dynamic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425" y="3781573"/>
            <a:ext cx="32004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Introduce off-peak discounts and weekend pass promotions to boost casual rider volume.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525" y="3191023"/>
            <a:ext cx="1009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JetBrains Mono"/>
              </a:rPr>
              <a:t>PHASE 3 (Q4)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3467248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Network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5325" y="3781573"/>
            <a:ext cx="32004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Expand station dock density by 25% along high-traffic suburban commute corridors.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900511"/>
            <a:ext cx="3555950" cy="1834157"/>
          </a:xfrm>
          <a:prstGeom prst="roundRect">
            <a:avLst>
              <a:gd name="adj" fmla="val 6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7950" y="2900511"/>
            <a:ext cx="3555950" cy="1834157"/>
          </a:xfrm>
          <a:prstGeom prst="roundRect">
            <a:avLst>
              <a:gd name="adj" fmla="val 6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900511"/>
            <a:ext cx="3555950" cy="1834157"/>
          </a:xfrm>
          <a:prstGeom prst="roundRect">
            <a:avLst>
              <a:gd name="adj" fmla="val 6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38636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3138636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138636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2514" y="342900"/>
            <a:ext cx="27603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2563EB"/>
                </a:solidFill>
                <a:latin typeface="JetBrains Mono"/>
              </a:rPr>
              <a:t>10. EXECUTIVE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734199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0F172A"/>
                </a:solidFill>
                <a:latin typeface="Plus Jakarta Sans"/>
              </a:rPr>
              <a:t>Strategic Takeaways &amp; Expected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462486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Revenue 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776811"/>
            <a:ext cx="31749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81% subscriber baseline provides predictable cash flow against weather volatility.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462486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Weather Preparedness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3776811"/>
            <a:ext cx="31749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Automated maintenance dispatch during rain windows cuts fleet downtime.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462486"/>
            <a:ext cx="38513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Fleet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776811"/>
            <a:ext cx="31749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Algorithm-driven rebalancing increases peak rush hour trip fulfillment by 15%.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9B2D97-96BC-4588-B264-D4713FADA602}"/>
              </a:ext>
            </a:extLst>
          </p:cNvPr>
          <p:cNvSpPr/>
          <p:nvPr/>
        </p:nvSpPr>
        <p:spPr>
          <a:xfrm>
            <a:off x="1921266" y="246579"/>
            <a:ext cx="7643973" cy="61644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11.Business Insights &amp;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A2470-8BC3-450C-BC4C-8A488C1B421B}"/>
              </a:ext>
            </a:extLst>
          </p:cNvPr>
          <p:cNvSpPr/>
          <p:nvPr/>
        </p:nvSpPr>
        <p:spPr>
          <a:xfrm>
            <a:off x="544530" y="1402487"/>
            <a:ext cx="10644027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👥</a:t>
            </a:r>
            <a:r>
              <a:rPr lang="en-US" sz="2000" b="1" dirty="0">
                <a:solidFill>
                  <a:srgbClr val="00B050"/>
                </a:solidFill>
                <a:latin typeface="Google Sans"/>
              </a:rPr>
              <a:t>Users &amp; Fleet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Split:</a:t>
            </a:r>
            <a:r>
              <a:rPr lang="en-US" dirty="0">
                <a:latin typeface="Google Sans"/>
              </a:rPr>
              <a:t> Registered commuters drive </a:t>
            </a:r>
            <a:r>
              <a:rPr lang="en-US" b="1" dirty="0">
                <a:latin typeface="Google Sans"/>
              </a:rPr>
              <a:t>91.6%</a:t>
            </a:r>
            <a:r>
              <a:rPr lang="en-US" dirty="0">
                <a:latin typeface="Google Sans"/>
              </a:rPr>
              <a:t> of rides; casual users make up just </a:t>
            </a:r>
            <a:r>
              <a:rPr lang="en-US" b="1" dirty="0">
                <a:latin typeface="Google Sans"/>
              </a:rPr>
              <a:t>8.4%</a:t>
            </a:r>
            <a:r>
              <a:rPr lang="en-US" dirty="0">
                <a:latin typeface="Google San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Habit:</a:t>
            </a:r>
            <a:r>
              <a:rPr lang="en-US" dirty="0">
                <a:latin typeface="Google Sans"/>
              </a:rPr>
              <a:t> Registered users follow strict work routines. Casual riders stay steady on weekend afternoons.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Action:</a:t>
            </a:r>
            <a:r>
              <a:rPr lang="en-US" dirty="0">
                <a:latin typeface="Google Sans"/>
              </a:rPr>
              <a:t> Move bikes to </a:t>
            </a:r>
            <a:r>
              <a:rPr lang="en-US" b="1" dirty="0">
                <a:latin typeface="Google Sans"/>
              </a:rPr>
              <a:t>offices and transit hubs</a:t>
            </a:r>
            <a:r>
              <a:rPr lang="en-US" dirty="0">
                <a:latin typeface="Google Sans"/>
              </a:rPr>
              <a:t> on workdays.</a:t>
            </a:r>
            <a:br>
              <a:rPr lang="en-US" dirty="0">
                <a:latin typeface="Google Sans"/>
              </a:rPr>
            </a:br>
            <a:endParaRPr lang="en-US" dirty="0">
              <a:latin typeface="Google Sans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Google Sans"/>
              </a:rPr>
              <a:t>⏰ Peak Hours &amp;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Rush:</a:t>
            </a:r>
            <a:r>
              <a:rPr lang="en-US" dirty="0">
                <a:latin typeface="Google Sans"/>
              </a:rPr>
              <a:t> Demand spikes at </a:t>
            </a:r>
            <a:r>
              <a:rPr lang="en-US" b="1" dirty="0">
                <a:latin typeface="Google Sans"/>
              </a:rPr>
              <a:t>8 AM</a:t>
            </a:r>
            <a:r>
              <a:rPr lang="en-US" dirty="0">
                <a:latin typeface="Google Sans"/>
              </a:rPr>
              <a:t> (5,388 rides) and </a:t>
            </a:r>
            <a:r>
              <a:rPr lang="en-US" b="1" dirty="0">
                <a:latin typeface="Google Sans"/>
              </a:rPr>
              <a:t>5 PM</a:t>
            </a:r>
            <a:r>
              <a:rPr lang="en-US" dirty="0">
                <a:latin typeface="Google Sans"/>
              </a:rPr>
              <a:t> (6,169 rides).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Lull:</a:t>
            </a:r>
            <a:r>
              <a:rPr lang="en-US" dirty="0">
                <a:latin typeface="Google Sans"/>
              </a:rPr>
              <a:t> Usage drops to its lowest between </a:t>
            </a:r>
            <a:r>
              <a:rPr lang="en-US" b="1" dirty="0">
                <a:latin typeface="Google Sans"/>
              </a:rPr>
              <a:t>midnight and 5 AM</a:t>
            </a:r>
            <a:r>
              <a:rPr lang="en-US" dirty="0">
                <a:latin typeface="Google San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Action:</a:t>
            </a:r>
            <a:r>
              <a:rPr lang="en-US" dirty="0">
                <a:latin typeface="Google Sans"/>
              </a:rPr>
              <a:t> Run all bike repairs and battery swaps </a:t>
            </a:r>
            <a:r>
              <a:rPr lang="en-US" b="1" dirty="0">
                <a:latin typeface="Google Sans"/>
              </a:rPr>
              <a:t>late at night</a:t>
            </a:r>
            <a:r>
              <a:rPr lang="en-US" dirty="0">
                <a:latin typeface="Google Sans"/>
              </a:rPr>
              <a:t> to protect rush-hour revenue.</a:t>
            </a:r>
            <a:br>
              <a:rPr lang="en-US" dirty="0">
                <a:latin typeface="Google Sans"/>
              </a:rPr>
            </a:br>
            <a:endParaRPr lang="en-US" dirty="0">
              <a:latin typeface="Google Sans"/>
            </a:endParaRPr>
          </a:p>
          <a:p>
            <a:r>
              <a:rPr lang="en-US" sz="2000" b="1" dirty="0">
                <a:solidFill>
                  <a:srgbClr val="00B050"/>
                </a:solidFill>
                <a:latin typeface="Google Sans"/>
              </a:rPr>
              <a:t>🌤️ Weather &amp;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Impact:</a:t>
            </a:r>
            <a:r>
              <a:rPr lang="en-US" dirty="0">
                <a:latin typeface="Google Sans"/>
              </a:rPr>
              <a:t> Clear days bring </a:t>
            </a:r>
            <a:r>
              <a:rPr lang="en-US" b="1" dirty="0">
                <a:latin typeface="Google Sans"/>
              </a:rPr>
              <a:t>61.7 rides/hour</a:t>
            </a:r>
            <a:r>
              <a:rPr lang="en-US" dirty="0">
                <a:latin typeface="Google Sans"/>
              </a:rPr>
              <a:t>, while rain or snow cuts demand nearly in half.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The Drivers:</a:t>
            </a:r>
            <a:r>
              <a:rPr lang="en-US" dirty="0">
                <a:latin typeface="Google Sans"/>
              </a:rPr>
              <a:t> Warmer weather boosts rentals, while </a:t>
            </a:r>
            <a:r>
              <a:rPr lang="en-US" b="1" dirty="0">
                <a:latin typeface="Google Sans"/>
              </a:rPr>
              <a:t>high humidity lowers them</a:t>
            </a:r>
            <a:r>
              <a:rPr lang="en-US" dirty="0">
                <a:latin typeface="Google San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Google Sans"/>
              </a:rPr>
              <a:t>Action:</a:t>
            </a:r>
            <a:r>
              <a:rPr lang="en-US" dirty="0">
                <a:latin typeface="Google Sans"/>
              </a:rPr>
              <a:t> Use live weather updates to push </a:t>
            </a:r>
            <a:r>
              <a:rPr lang="en-US" b="1" dirty="0">
                <a:latin typeface="Google Sans"/>
              </a:rPr>
              <a:t>app discounts on slow, humid, or rainy days</a:t>
            </a:r>
            <a:endParaRPr lang="en-US" dirty="0"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Google Sans"/>
              </a:rPr>
              <a:t>.</a:t>
            </a:r>
            <a:endParaRPr lang="en-US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732342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962650"/>
            <a:ext cx="111252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59626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6462" y="448449"/>
            <a:ext cx="338983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60A5FA"/>
                </a:solidFill>
                <a:latin typeface="JetBrains Mono"/>
              </a:rPr>
              <a:t>11.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834" y="6162675"/>
            <a:ext cx="3345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Bike Sharing Demand 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106" y="6162675"/>
            <a:ext cx="311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McKinsey / BCG Style Executive Review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DB1838-1A49-4AAF-90D6-46528905E53E}"/>
              </a:ext>
            </a:extLst>
          </p:cNvPr>
          <p:cNvSpPr/>
          <p:nvPr/>
        </p:nvSpPr>
        <p:spPr>
          <a:xfrm>
            <a:off x="750014" y="1228891"/>
            <a:ext cx="100378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Google Sans"/>
              </a:rPr>
              <a:t>📊 Performance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Total Volume: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Generated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58,304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rides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over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1,000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hours, averaging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58.3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rides per hour.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Peak Record: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Reached a system high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of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249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rentals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in a single hour.</a:t>
            </a:r>
            <a:b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Google Sans"/>
            </a:endParaRPr>
          </a:p>
          <a:p>
            <a:r>
              <a:rPr lang="en-US" b="1" dirty="0">
                <a:solidFill>
                  <a:schemeClr val="accent2"/>
                </a:solidFill>
                <a:latin typeface="Google Sans"/>
              </a:rPr>
              <a:t>💡 Core Takeaway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The system is a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work commute utility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, not a leisure platform. Business stability depends entirely on the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91.6%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registered subscriber base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. Weather causes minor daily shifts, but regular commuter habits remain highly predictable.</a:t>
            </a:r>
            <a:b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Google Sans"/>
            </a:endParaRPr>
          </a:p>
          <a:p>
            <a:r>
              <a:rPr lang="en-US" b="1" dirty="0">
                <a:solidFill>
                  <a:schemeClr val="accent2"/>
                </a:solidFill>
                <a:latin typeface="Google Sans"/>
              </a:rPr>
              <a:t>🚀 Scaling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Convert Casual Riders: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Launch a "Commuter Trial" pass to turn weekend riders into monthly subscribers.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Smart Planning: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Use weather forecasts to auto-adjust bike supplies based on temperature and humidity.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Lock Down Peak Hours: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Focus all tech and fleet support on keeping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the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Google Sans"/>
              </a:rPr>
              <a:t>8 AM and 5 PM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rush hours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Google Sans"/>
              </a:rPr>
              <a:t> flawless.</a:t>
            </a:r>
            <a:endParaRPr lang="en-US" b="0" u="none" strike="noStrike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1119</Words>
  <Application>Microsoft Office PowerPoint</Application>
  <PresentationFormat>Widescreen</PresentationFormat>
  <Paragraphs>167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Inter</vt:lpstr>
      <vt:lpstr>JetBrains Mono</vt:lpstr>
      <vt:lpstr>Plus Jakarta Sans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Dipak</dc:creator>
  <cp:keywords/>
  <dc:description>generated using python-pptx</dc:description>
  <cp:lastModifiedBy>pc</cp:lastModifiedBy>
  <cp:revision>8</cp:revision>
  <dcterms:created xsi:type="dcterms:W3CDTF">2013-01-27T09:14:16Z</dcterms:created>
  <dcterms:modified xsi:type="dcterms:W3CDTF">2026-10-10T17:12:36Z</dcterms:modified>
  <cp:category/>
</cp:coreProperties>
</file>